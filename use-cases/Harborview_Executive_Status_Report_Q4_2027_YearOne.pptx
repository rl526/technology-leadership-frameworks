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658368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Report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457200" y="2514600"/>
            <a:ext cx="292608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6700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One Complete  •  Network Infrastructure  •  Projects  •  Operations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0906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Lowery  |  Deputy Chief Networking Officer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41985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2027  |  Weekending December 31, 2027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43200" y="4864608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2027  |  Weekending December 31, 2027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0" y="4864608"/>
            <a:ext cx="26060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 Harbor Boulevard, Harborview, PA  •  harborview.gov/oit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— Year One Complete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697480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33856"/>
            <a:ext cx="2514600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15969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Safety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94419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met — sustained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72968" y="1024128"/>
            <a:ext cx="2697480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4408" y="1133856"/>
            <a:ext cx="2514600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99.97%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64408" y="15969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Network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4408" y="1794419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met — sustained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25896" y="1024128"/>
            <a:ext cx="2697480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17336" y="1133856"/>
            <a:ext cx="2514600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17336" y="15969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Capacity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17336" y="1794419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from 32 at Day 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139696"/>
            <a:ext cx="2697480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2249424"/>
            <a:ext cx="2514600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23/23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11480" y="27124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SPOFs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2909987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complete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72968" y="2139696"/>
            <a:ext cx="2697480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64408" y="2249424"/>
            <a:ext cx="2514600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264408" y="27124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800-53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64408" y="2909987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from 0% — target 80%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25896" y="2139696"/>
            <a:ext cx="2697480" cy="987552"/>
          </a:xfrm>
          <a:prstGeom prst="roundRect">
            <a:avLst>
              <a:gd name="adj" fmla="val 7407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17336" y="2249424"/>
            <a:ext cx="2514600" cy="513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117336" y="27124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Copper-to-Fiber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17336" y="2909987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of 17 facilities complete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218688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Readout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3675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23 single points of failure eliminated. Public Safety and Airport availability targets met and sustained for two consecutive quarters.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39867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Governance transformation complete — runbooks, escalation matrix, shift handoffs, and monthly scorecard reporting fully operational.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42976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Copper-to-fiber migration Phase 1 underway — 8 of 17 facilities complete. SD-WAN procurement approved.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218688"/>
            <a:ext cx="4114800" cy="1463040"/>
          </a:xfrm>
          <a:prstGeom prst="roundRect">
            <a:avLst>
              <a:gd name="adj" fmla="val 5000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92040" y="3310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Two Priorities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92040" y="3675888"/>
            <a:ext cx="804672" cy="237744"/>
          </a:xfrm>
          <a:prstGeom prst="roundRect">
            <a:avLst>
              <a:gd name="adj" fmla="val 15385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67588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779008" y="3675888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copper-to-fiber migration — remaining 9 facilities by Q3 2026.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92040" y="4005072"/>
            <a:ext cx="804672" cy="237744"/>
          </a:xfrm>
          <a:prstGeom prst="roundRect">
            <a:avLst>
              <a:gd name="adj" fmla="val 15385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40050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779008" y="4005072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80% NIST 800-53 compliance — on track for Q4 2026.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92040" y="4334256"/>
            <a:ext cx="804672" cy="237744"/>
          </a:xfrm>
          <a:prstGeom prst="roundRect">
            <a:avLst>
              <a:gd name="adj" fmla="val 15385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33425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779008" y="4334256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SD-WAN deployment — Tier 1 and Tier 2 locations — Phase 1 Q2 2026.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743200" y="4864608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2027  |  Weekending December 31, 2027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00800" y="4864608"/>
            <a:ext cx="26060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 Harbor Boulevard, Harborview, PA  •  harborview.gov/oit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618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2618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One Results — By the Numbers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2618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Availability, outage elimination, SPOF resolution, governance delivery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8092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105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8105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Mayoral &amp; CIO Initiative Status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8105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initiatives — health indicators, owners, year one outcomes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194560"/>
            <a:ext cx="8092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5915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3591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Status Map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3591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Active, complete, and planned — full landscape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743200"/>
            <a:ext cx="8092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077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9077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Status — Active Initiatives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9077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Copper-to-fiber, SD-WAN, NIST compliance, ConnectHarborview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8092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564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34564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Two Strategic Roadmap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456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buildout, advanced capability, zero trust, automation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840480"/>
            <a:ext cx="8092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0050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0050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Decisions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40050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approvals and executive actions required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43200" y="4864608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2027  |  Weekending December 31, 2027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4864608"/>
            <a:ext cx="26060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 Harbor Boulevard, Harborview, PA  •  harborview.gov/oit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One Results — By the Numbers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384048"/>
          </a:xfrm>
          <a:prstGeom prst="roundRect">
            <a:avLst>
              <a:gd name="adj" fmla="val 14286"/>
            </a:avLst>
          </a:prstGeom>
          <a:solidFill>
            <a:srgbClr val="1122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241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Lowery — Day 1: January 6, 2026  →  </a:t>
            </a:r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One Complete: December 31, 2027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850392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60520" y="1508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State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40680" y="1508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One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2084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865376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8653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Network Capacity Outages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60520" y="18653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40680" y="18653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20840" y="18653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eliminated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12848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2128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Points of Failure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60520" y="22128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40680" y="22128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720840" y="221284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eliminated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560320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560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Blind Spots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60520" y="25603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40680" y="25603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20840" y="25603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closed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907792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9077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 / Escalation Matrix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60520" y="29077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40680" y="29077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20840" y="29077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documented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255264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2552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Safety Availability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60520" y="32552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98.7%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40680" y="32552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720840" y="325526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met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3602736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6027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Network Availability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160520" y="36027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98.2%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40680" y="360273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99.97%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720840" y="36027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met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3950208"/>
            <a:ext cx="8503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950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800-53 Network Compliance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160520" y="39502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40680" y="39502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720840" y="39502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track — 80% Q4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4297680"/>
            <a:ext cx="8503920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2976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Copper-to-Fiber Facilities Migrated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160520" y="42976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40680" y="42976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of 17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720840" y="4297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active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743200" y="4864608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2027  |  Weekending December 31, 2027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00800" y="4864608"/>
            <a:ext cx="26060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 Harbor Boulevard, Harborview, PA  •  harborview.gov/oit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Mayoral &amp; CIO Initiative Status — Year 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8503920" cy="475488"/>
          </a:xfrm>
          <a:prstGeom prst="roundRect">
            <a:avLst>
              <a:gd name="adj" fmla="val 11538"/>
            </a:avLst>
          </a:prstGeom>
          <a:solidFill>
            <a:srgbClr val="1122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Minerva Brayboy  |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Modernization Mandate — Year One Review  |  </a:t>
            </a:r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Janelle Taylor — Strategic Alignment Owner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Mayoral Directives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38528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84832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8483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53312" y="19933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M-01  Network Resiliency Initiative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53312" y="224028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23 SPOFs eliminated — dual carrier at all Tier 1 locations — Q3 2025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96896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43200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4320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651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M-02  Network Availability Mandate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53312" y="289864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99.99% Public Safety / 99.97% Airport — sustained 2 consecutive quarters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255264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401568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0156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53312" y="3310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M-03  Digital Equity — ConnectHarborview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53312" y="355701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infrastructure complete — 12,000 households connected — Phase 2 Q2 2026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913632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059936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599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53312" y="39684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M-04  Public Safety Network Upgrade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53312" y="421538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crisis resolved Q2 2025 — zero outages since June 2025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16002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Strategic Initiatives — Janelle Taylor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1938528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084832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08483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96712" y="19933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C-01  Network Process Improvement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96712" y="224028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Runbooks, escalation matrix, shift handoffs — 100% compliant — Q1 2025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596896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743200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74320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96712" y="2651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C-02  Network Technology Strategy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696712" y="289864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strategy delivered Q2 2025 — approved by Mayor Brayboy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255264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401568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40156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96712" y="33101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C-03  Copper-to-Fiber Migration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696712" y="355701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of 17 facilities complete — Phase 2 remaining 9 facilities Q2–Q3 2026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913632"/>
            <a:ext cx="41605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4059936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40599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696712" y="39684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C-04  NIST 800-53 Compliance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696712" y="4215384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 compliant — remediation on track — 80% target Q4 2026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43200" y="4864608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2027  |  Weekending December 31, 2027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0" y="4864608"/>
            <a:ext cx="26060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 Harbor Boulevard, Harborview, PA  •  harborview.gov/oit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Status 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60520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155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Mayoral Portfolio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" y="1572768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7276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15636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Capacity Outages — Resolved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7739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outages since Jun 2025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" y="1993392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048256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04825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20391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Resiliency Initiative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224942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SPOFs eliminated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" y="2468880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2523744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52374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71600" y="25146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Safety Network Upgrade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27249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2025 delivery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" y="2944368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2999232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99923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71600" y="29900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ConnectHarborview Broadband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71600" y="32004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Q2 2026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" y="3419856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3474720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4747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71600" y="34655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 Airport Connectivity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71600" y="367588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99.97% sustained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" y="3895344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" y="3950208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9502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71600" y="39410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Private Network Pilot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371600" y="41513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Q3 2026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1024128"/>
            <a:ext cx="4160520" cy="35844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11155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Strategic Portfolio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818888" y="1572768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157276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15000" y="156362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Process Improvement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15000" y="177393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governance delivered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18888" y="1993392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18888" y="2048256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204825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15000" y="20391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Technology Strategy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715000" y="22494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Q2 2025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18888" y="2468880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18888" y="2523744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18888" y="252374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715000" y="25146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Coverage Expansion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715000" y="27249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device coverage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18888" y="2944368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18888" y="2999232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18888" y="299923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715000" y="29900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Copper-to-Fiber Migration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715000" y="32004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Q2–Q3 2026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818888" y="3419856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18888" y="3474720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18888" y="34747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715000" y="346557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800-53 Compliance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715000" y="36758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 — target 80% Q4 2026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818888" y="3895344"/>
            <a:ext cx="3794760" cy="0"/>
          </a:xfrm>
          <a:prstGeom prst="line">
            <a:avLst/>
          </a:prstGeom>
          <a:noFill/>
          <a:ln w="9525">
            <a:solidFill>
              <a:srgbClr val="F0F4F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18888" y="3950208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18888" y="395020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715000" y="39410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SD-WAN Deployment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715000" y="415137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procurement Q2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743200" y="4864608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2027  |  Weekending December 31, 2027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400800" y="4864608"/>
            <a:ext cx="26060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 Harbor Boulevard, Harborview, PA  •  harborview.gov/oit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Status</a:t>
            </a:r>
            <a:endParaRPr lang="en-US" sz="5400" dirty="0"/>
          </a:p>
        </p:txBody>
      </p:sp>
      <p:sp>
        <p:nvSpPr>
          <p:cNvPr id="6" name="Shape 3"/>
          <p:cNvSpPr/>
          <p:nvPr/>
        </p:nvSpPr>
        <p:spPr>
          <a:xfrm>
            <a:off x="457200" y="3017520"/>
            <a:ext cx="27432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1821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initiatives and delivery posture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743200" y="4864608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2027  |  Weekending December 31, 2027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0" y="4864608"/>
            <a:ext cx="26060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 Harbor Boulevard, Harborview, PA  •  harborview.gov/oit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Project Dashboard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37560" y="10515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60520" y="1051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40680" y="10515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Sponsor / Owner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35240" y="10515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444752"/>
            <a:ext cx="8503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447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Copper-to-Fiber Migration — Phase 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10128" y="1508760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5087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24528" y="14447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04688" y="14447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Taylor / R. Lowery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562088" y="14447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1847088"/>
            <a:ext cx="85039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8470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SD-WAN Deployment — Tier 1 &amp; 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10128" y="1911096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191109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24528" y="18470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04688" y="184708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Taylor / R. Lowery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62088" y="18470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249424"/>
            <a:ext cx="8503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2494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800-53 Network Compliance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10128" y="2313432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231343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24528" y="22494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04688" y="224942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 / R. Lowery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62088" y="224942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2651760"/>
            <a:ext cx="85039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6517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ConnectHarborview — Phase 2 Infrastructure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10128" y="2715768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271576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24528" y="26517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04688" y="26517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Brayboy / R. Lowery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562088" y="26517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3054096"/>
            <a:ext cx="8503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05409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Network Access — Pilot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10128" y="3118104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0128" y="311810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224528" y="30540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504688" y="305409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 / R. Lowery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562088" y="30540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3456432"/>
            <a:ext cx="85039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4564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Automation — Infrastructure as Code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310128" y="3520440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10128" y="352044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224528" y="3456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504688" y="3456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Taylor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562088" y="3456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0040" y="3858768"/>
            <a:ext cx="8503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587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Private Network — Feasibility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310128" y="3922776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10128" y="392277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224528" y="38587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504688" y="38587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 Brayboy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562088" y="3858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20040" y="4261104"/>
            <a:ext cx="85039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2611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Recovery Drill — Full Scope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310128" y="4325112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10128" y="432511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224528" y="42611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504688" y="42611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Lowery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562088" y="42611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2026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743200" y="4864608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2027  |  Weekending December 31, 2027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400800" y="4864608"/>
            <a:ext cx="26060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 Harbor Boulevard, Harborview, PA  •  harborview.gov/oit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Two Strategic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422452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280160"/>
            <a:ext cx="438912" cy="365760"/>
          </a:xfrm>
          <a:prstGeom prst="roundRect">
            <a:avLst>
              <a:gd name="adj" fmla="val 15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8016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12984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Infrastructure Modernization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1737360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copper-to-fiber — all 17 facilities. Deploy SD-WAN citywide. Achieve full managed device coverage across all 94 City facilities.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27448" y="1115568"/>
            <a:ext cx="422452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280160"/>
            <a:ext cx="438912" cy="365760"/>
          </a:xfrm>
          <a:prstGeom prst="roundRect">
            <a:avLst>
              <a:gd name="adj" fmla="val 15000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8016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2984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NIST 800-53 Compliance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737360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control compliance by Q4 2026. Zero trust network access pilot complete. Full remediation roadmap executed on schedule.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422452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" y="3090672"/>
            <a:ext cx="438912" cy="36576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090672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33272" y="31089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 Digital Equity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" y="3547872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ConnectHarborview Phase 2 — 25,000 additional households. Broadband access for all underserved Harborview neighborhoods by Q3 2026.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27448" y="2926080"/>
            <a:ext cx="4224528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090672"/>
            <a:ext cx="438912" cy="365760"/>
          </a:xfrm>
          <a:prstGeom prst="roundRect">
            <a:avLst>
              <a:gd name="adj" fmla="val 15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090672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31089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Next-Generation Capability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547872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private network feasibility complete. Network automation and infrastructure-as-code pilot. Zero trust framework deployment Q1 2027.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0" y="4864608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2027  |  Weekending December 31, 2027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4864608"/>
            <a:ext cx="26060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 Harbor Boulevard, Harborview, PA  •  harborview.gov/oit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Decisions Required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1207008"/>
            <a:ext cx="29260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389888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554480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55448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508760" y="148132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SD-WAN Phase 1 procurement — Tier 1 and Tier 2 locations — est. $780K capital — Q2 2026 start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139696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304288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30428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508760" y="223113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Copper-to-fiber Phase 2 — remaining 9 facilities — est. $680K capital — Q2 2026 award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2889504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0096B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3054096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305409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508760" y="298094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network access pilot — scope and vendor selection — est. $220K — Q3 2026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3639312"/>
            <a:ext cx="8229600" cy="621792"/>
          </a:xfrm>
          <a:prstGeom prst="roundRect">
            <a:avLst>
              <a:gd name="adj" fmla="val 8824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" y="3803904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380390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508760" y="373075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One complete — all Mayoral Initiatives delivered on schedule — Public Safety and Airport targets sustained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Lowery  |  Deputy Chief Networking Officer  |  City of Harborview OIT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4864608"/>
            <a:ext cx="2743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743200" y="4864608"/>
            <a:ext cx="36576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2027  |  Weekending December 31, 2027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400800" y="4864608"/>
            <a:ext cx="26060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 Harbor Boulevard, Harborview, PA  •  harborview.gov/oit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Harborview OIT — Executive Status Report Q4 2027</dc:title>
  <dc:subject>PptxGenJS Presentation</dc:subject>
  <dc:creator>R. Lowery</dc:creator>
  <cp:lastModifiedBy>R. Lowery</cp:lastModifiedBy>
  <cp:revision>1</cp:revision>
  <dcterms:created xsi:type="dcterms:W3CDTF">2026-06-11T17:01:00Z</dcterms:created>
  <dcterms:modified xsi:type="dcterms:W3CDTF">2026-06-11T17:01:00Z</dcterms:modified>
</cp:coreProperties>
</file>