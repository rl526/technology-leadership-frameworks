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RESTRICTED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594360"/>
            <a:ext cx="54864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5200" dirty="0"/>
          </a:p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5200" dirty="0"/>
          </a:p>
        </p:txBody>
      </p:sp>
      <p:sp>
        <p:nvSpPr>
          <p:cNvPr id="6" name="Shape 3"/>
          <p:cNvSpPr/>
          <p:nvPr/>
        </p:nvSpPr>
        <p:spPr>
          <a:xfrm>
            <a:off x="457200" y="2999232"/>
            <a:ext cx="32004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63824"/>
            <a:ext cx="5943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Compound Incident — Carrier Failure + Security Alert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347472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Network Impact  |  Recovery Framework Activated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822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 |  Deputy Chief Networking Officer  |  Incident Commander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57200" y="4114800"/>
            <a:ext cx="5943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  |  Incident Declared: 02:47 AM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20040" y="4864608"/>
            <a:ext cx="850392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RESTRICTED — Crisis Command Documentation  |  Internal Use Only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CRISIS RESPONSE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Summary — Command Status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05840"/>
            <a:ext cx="8503920" cy="475488"/>
          </a:xfrm>
          <a:prstGeom prst="roundRect">
            <a:avLst>
              <a:gd name="adj" fmla="val 11538"/>
            </a:avLst>
          </a:prstGeom>
          <a:solidFill>
            <a:srgbClr val="C1121F"/>
          </a:solidFill>
          <a:ln w="12700">
            <a:solidFill>
              <a:srgbClr val="C1121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05840"/>
            <a:ext cx="8138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INCIDENT ACTIVE  |  </a:t>
            </a:r>
            <a:pPr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Declared: June 14, 2027 — 02:47 AM  |  </a:t>
            </a:r>
            <a:pPr indent="0" marL="0">
              <a:buNone/>
            </a:pPr>
            <a:r>
              <a:rPr lang="en-US" sz="1050" dirty="0">
                <a:solidFill>
                  <a:srgbClr val="FFCC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Commander: R. Lowery  |  </a:t>
            </a:r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Status: RECOVERY IN PROGRESS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1591056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682496"/>
            <a:ext cx="1847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02:47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411480" y="2128723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Declared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233995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14, 2027 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496312" y="1591056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587752" y="1682496"/>
            <a:ext cx="1847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587752" y="2128723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Severity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87752" y="233995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Safety Impact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72584" y="1591056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64024" y="1682496"/>
            <a:ext cx="1847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4764024" y="2128723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Simultaneous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64024" y="233995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+ Security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848856" y="1591056"/>
            <a:ext cx="2029968" cy="960120"/>
          </a:xfrm>
          <a:prstGeom prst="roundRect">
            <a:avLst>
              <a:gd name="adj" fmla="val 7619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940296" y="1682496"/>
            <a:ext cx="1847088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04:12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6940296" y="2128723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940296" y="2339950"/>
            <a:ext cx="18470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— 85%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651760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270662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Description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294436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02:47 AM on June 14, 2027, the City of Harborview primary carrier experienced a fiber cut affecting WAN circuits at 14 Tier 1 locations. Simultaneously, the NOC detected anomalous traffic patterns consistent with a lateral movement attempt across the Public Safety network segment. R. Lowery activated the Network Recovery Framework and the Three Lines of Defense security response at 02:52 AM — five minutes after incident declaration.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0040" y="3419856"/>
            <a:ext cx="4160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02920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Confirmed Impact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75488" y="378561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5488" y="378561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298448" y="378561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Dispatch — DEGRADED — 85% capacity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" y="405993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05993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98448" y="405993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Airport Connectivity — OFFLINE — backup circuit activating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" y="4334256"/>
            <a:ext cx="749808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" y="4334256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298448" y="43342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City Hall + 12 facilities — WAN circuit loss — failover in progress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663440" y="3419856"/>
            <a:ext cx="4160520" cy="118872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846320" y="3493008"/>
            <a:ext cx="3794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Team — Activated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3785616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080760" y="3785616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Commander — DCNO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4846320" y="40050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Salado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080760" y="4005072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Recovery Lead — WAN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846320" y="4224528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Youngblood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6080760" y="4224528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Response Lead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846320" y="4443984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Caldwell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080760" y="4443984"/>
            <a:ext cx="2606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Command — Monitoring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CRISIS RESPONSE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Timeline — Recovery Actions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42416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04241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02:47 AM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7882128" y="110642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82128" y="110642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481328" y="1060704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Incident Declared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481328" y="1261872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NOC detects simultaneous WAN circuit loss at 14 locations and anomalous traffic on Public Safety segment. P1 declared.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4672" y="1463040"/>
            <a:ext cx="0" cy="914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320040" y="1572768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157276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02:52 AM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7882128" y="163677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882128" y="163677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81328" y="1591056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Framework Activated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481328" y="1792224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activates Network Recovery Framework. Command team engaged. CIO Taylor and CISO notified per escalation matrix.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04672" y="1993392"/>
            <a:ext cx="0" cy="914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0" name="Shape 18"/>
          <p:cNvSpPr/>
          <p:nvPr/>
        </p:nvSpPr>
        <p:spPr>
          <a:xfrm>
            <a:off x="320040" y="2103120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2103120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03:05 AM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882128" y="216712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82128" y="21671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481328" y="2121408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Emergency Escalation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481328" y="2322576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carrier account executive contacted. Fiber cut confirmed — estimated restoration 4–6 hours. Backup circuits activating.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804672" y="2523744"/>
            <a:ext cx="0" cy="914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27" name="Shape 25"/>
          <p:cNvSpPr/>
          <p:nvPr/>
        </p:nvSpPr>
        <p:spPr>
          <a:xfrm>
            <a:off x="320040" y="2633472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2633472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03:12 AM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882128" y="269748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882128" y="269748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481328" y="2651760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Backup Circuit — Active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1481328" y="2852928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Secondary carrier circuit activated at Public Safety HQ. 85% capacity restored. 911 routing confirmed operational.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04672" y="3054096"/>
            <a:ext cx="0" cy="914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320040" y="3163824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0040" y="3163824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03:28 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882128" y="322783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882128" y="322783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481328" y="3182112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Threat Assessment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1481328" y="3383280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Youngblood confirms lateral movement attempt blocked by firewall segmentation. No data exfiltration confirmed. CISO briefed.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04672" y="3584448"/>
            <a:ext cx="0" cy="914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41" name="Shape 39"/>
          <p:cNvSpPr/>
          <p:nvPr/>
        </p:nvSpPr>
        <p:spPr>
          <a:xfrm>
            <a:off x="320040" y="3694176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20040" y="3694176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04:12 AM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882128" y="375818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882128" y="375818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481328" y="3712464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Circuit — Partial Restoration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1481328" y="3913632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Airport backup circuit activated — 60% capacity. Full restoration pending primary carrier repair.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4672" y="4114800"/>
            <a:ext cx="0" cy="91440"/>
          </a:xfrm>
          <a:prstGeom prst="line">
            <a:avLst/>
          </a:prstGeom>
          <a:noFill/>
          <a:ln w="12700">
            <a:solidFill>
              <a:srgbClr val="00B4D8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320040" y="4224528"/>
            <a:ext cx="1051560" cy="402336"/>
          </a:xfrm>
          <a:prstGeom prst="roundRect">
            <a:avLst>
              <a:gd name="adj" fmla="val 13636"/>
            </a:avLst>
          </a:prstGeom>
          <a:solidFill>
            <a:srgbClr val="112240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20040" y="4224528"/>
            <a:ext cx="1051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TBD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7882128" y="428853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882128" y="428853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PENDING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481328" y="4242816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Carrier — Full Restoration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481328" y="4443984"/>
            <a:ext cx="6291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Carrier estimating full fiber restoration by 08:00 AM. R. Lowery monitoring. Post-incident review scheduled June 15.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OIT  |  CRISIS RESPONSE  |  RESTRICTED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5486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</a:t>
            </a:r>
            <a:endParaRPr lang="en-US" sz="5000" dirty="0"/>
          </a:p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</a:t>
            </a:r>
            <a:endParaRPr lang="en-US" sz="5000" dirty="0"/>
          </a:p>
        </p:txBody>
      </p:sp>
      <p:sp>
        <p:nvSpPr>
          <p:cNvPr id="6" name="Shape 3"/>
          <p:cNvSpPr/>
          <p:nvPr/>
        </p:nvSpPr>
        <p:spPr>
          <a:xfrm>
            <a:off x="457200" y="3017520"/>
            <a:ext cx="2743200" cy="502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57200" y="31821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restoration — security response — stakeholder communications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CRISIS RESPONSE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Recovery Status Dashboard — As of 04:30 AM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42416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Recovery — By Tier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85039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9616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499616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353312" y="142646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Public Safety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353312" y="1664208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85%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49040" y="1481328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circuit active — 911 routing operational — full restoration pending primary carrier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" y="1956816"/>
            <a:ext cx="85039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066544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66544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53312" y="19933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Harbor Airport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353312" y="223113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60%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2048256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circuit active — partial capacity — primary circuit restoration in progress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" y="2523744"/>
            <a:ext cx="85039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2633472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633472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OFFLINE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353312" y="256032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 — City Hall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353312" y="2798064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0%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749040" y="2615184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Awaiting backup circuit activation — estimated restoration 05:00 AM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090672"/>
            <a:ext cx="85039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3200400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3200400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DEGRADED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53312" y="312724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 — Enterprise Network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1353312" y="3364992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45%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749040" y="31821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of 27 locations on backup circuits — prioritizing Tier 1 restoration first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657600"/>
            <a:ext cx="8503920" cy="493776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57200" y="3767328"/>
            <a:ext cx="804672" cy="274320"/>
          </a:xfrm>
          <a:prstGeom prst="roundRect">
            <a:avLst>
              <a:gd name="adj" fmla="val 13333"/>
            </a:avLst>
          </a:prstGeom>
          <a:solidFill>
            <a:srgbClr val="6C7A89"/>
          </a:solidFill>
          <a:ln w="12700">
            <a:solidFill>
              <a:srgbClr val="6C7A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767328"/>
            <a:ext cx="804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353312" y="36941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 — Administrative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1353312" y="39319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Availability: N/A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749040" y="3749040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Non-critical — restoration deferred pending Tier 1 and Tier 2 completion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" y="4279392"/>
            <a:ext cx="8503920" cy="420624"/>
          </a:xfrm>
          <a:prstGeom prst="roundRect">
            <a:avLst>
              <a:gd name="adj" fmla="val 13043"/>
            </a:avLst>
          </a:prstGeom>
          <a:solidFill>
            <a:srgbClr val="112240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" y="4279392"/>
            <a:ext cx="81381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STATUS:  </a:t>
            </a:r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Lateral movement attempt BLOCKED — firewall segmentation confirmed effective — no data exfiltration — Public Safety segment isolated and under continuous monitoring — CISO Damian Oravez briefed at 03:28 AM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CRISIS RESPONSE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Stakeholder Communications Log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0584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A89"/>
                </a:solidFill>
                <a:latin typeface="Arail" pitchFamily="34" charset="0"/>
                <a:ea typeface="Arail" pitchFamily="34" charset="-122"/>
                <a:cs typeface="Arail" pitchFamily="34" charset="-120"/>
              </a:rPr>
              <a:t>All notifications executed per Escalation Matrix and Communication Plan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0040" y="1316736"/>
            <a:ext cx="8503920" cy="29260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3167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298448" y="131673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Notified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01568" y="1316736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407408" y="1316736"/>
            <a:ext cx="4480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Message Summary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0040" y="1645920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164592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02:52 AM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298448" y="164592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Janelle Taylor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01568" y="164592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07408" y="164592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declared — compound incident — Recovery Framework activated — will update every 30 minutes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084832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208483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02:54 AM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298448" y="208483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CISO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401568" y="208483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07408" y="208483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alert active — lateral movement attempt — Three Lines of Defense activated — Public Safety segment isolated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0040" y="2523744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2523744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02:58 AM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298448" y="2523744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Mayor's Office — Chief of Staff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401568" y="252374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07408" y="25237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incident — Public Safety network impact — 911 routing degraded — recovery underway — Mayor Brayboy informed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20040" y="2962656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1480" y="2962656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03:15 AM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298448" y="2962656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Commissioner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401568" y="296265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407408" y="296265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 capacity restored on backup circuit — 911 routing operational — monitoring continuously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20040" y="3401568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11480" y="3401568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03:22 AM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298448" y="3401568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 Airport — Technology Director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401568" y="340156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407408" y="340156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Backup circuit activating — partial restoration by 04:00 AM — monitoring and escalating to carrier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320040" y="3840480"/>
            <a:ext cx="8503920" cy="4206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11480" y="3840480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03:30 AM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1298448" y="3840480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75 City Technology Stakeholders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401568" y="3840480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Email blast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4407408" y="3840480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P1 network incident active — affected departments notified — restoration timeline communicated — next update 06:00 AM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320040" y="4279392"/>
            <a:ext cx="8503920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11480" y="4279392"/>
            <a:ext cx="822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04:30 AM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298448" y="4279392"/>
            <a:ext cx="2011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CIO Taylor — Update 3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3401568" y="4279392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C7A8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call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407408" y="4279392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 85% — Airport 60% — City Hall restoration in progress — carrier ETA 08:00 AM — security threat neutralized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46304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HARBORVIEW OFFICE OF INNOVATION &amp; TECHNOLOGY  |  CRISIS RESPONSE REPORT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0040" y="420624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6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Accountability &amp; Next Actions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932688"/>
            <a:ext cx="8503920" cy="3657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42416"/>
            <a:ext cx="8503920" cy="658368"/>
          </a:xfrm>
          <a:prstGeom prst="roundRect">
            <a:avLst>
              <a:gd name="adj" fmla="val 8333"/>
            </a:avLst>
          </a:prstGeom>
          <a:solidFill>
            <a:srgbClr val="112240"/>
          </a:solidFill>
          <a:ln w="19050">
            <a:solidFill>
              <a:srgbClr val="E639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 Cause — Confirmed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2920" y="131673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Primary carrier fiber cut — underground conduit damage at Harbor Bridge junction — single-carrier dependency at 14 Tier 1 locations exposed. Simultaneous security event was an opportunistic lateral movement attempt exploiting the connectivity disruption. Firewall segmentation deployed in Year One remediation successfully contained the threat.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0040" y="1810512"/>
            <a:ext cx="4160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" y="1810512"/>
            <a:ext cx="4160520" cy="329184"/>
          </a:xfrm>
          <a:prstGeom prst="rect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18105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Worked — Year One Investments Validated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2212848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Recovery Framework activated in 5 minutes — procedures followed without deviation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468880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Backup circuits at Public Safety HQ restored 911 routing within 25 minutes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57200" y="2724912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Firewall segmentation blocked security threat — zero data exfiltration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980944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Escalation matrix executed perfectly — all stakeholders notified on schedule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57200" y="3236976"/>
            <a:ext cx="3886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NOC monitoring detected both events simultaneously — no blind spots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1810512"/>
            <a:ext cx="4160520" cy="1737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663440" y="1810512"/>
            <a:ext cx="4160520" cy="32918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1810512"/>
            <a:ext cx="3886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Corrective Actions — Required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800600" y="221284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City Hall backup circuit — immediate procurement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424928" y="2212848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8302752" y="2212848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21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00600" y="2468880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Carrier diversity audit — all 14 affected locations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424928" y="2468880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Salado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8302752" y="2468880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28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4800600" y="2724912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Security — post-incident forensic review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424928" y="272491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S. Youngblood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302752" y="2724912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19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00600" y="298094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Full recovery drill — compound scenario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24928" y="2980944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8302752" y="2980944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July 15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800600" y="323697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B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Post-incident report — Mayor and CIO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424928" y="3236976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0096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8302752" y="3236976"/>
            <a:ext cx="594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15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320040" y="3657600"/>
            <a:ext cx="8503920" cy="969264"/>
          </a:xfrm>
          <a:prstGeom prst="roundRect">
            <a:avLst>
              <a:gd name="adj" fmla="val 5660"/>
            </a:avLst>
          </a:prstGeom>
          <a:solidFill>
            <a:srgbClr val="FFF8E7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02920" y="3712464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Decisions Required — CIO Taylor / Mayor Brayboy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02920" y="398678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Emergency carrier diversity procurement — dual-carrier at all 14 affected Tier 1 locations — est. $340K — approval required by June 18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502920" y="4261104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240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  Post-incident security review — independent third-party assessment — est. $85K — CISO recommendation pending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 Posture — Active</a:t>
            </a:r>
            <a:endParaRPr lang="en-US" sz="3800" dirty="0"/>
          </a:p>
        </p:txBody>
      </p:sp>
      <p:sp>
        <p:nvSpPr>
          <p:cNvPr id="5" name="Shape 2"/>
          <p:cNvSpPr/>
          <p:nvPr/>
        </p:nvSpPr>
        <p:spPr>
          <a:xfrm>
            <a:off x="457200" y="1115568"/>
            <a:ext cx="2926080" cy="5029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26187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remains Incident Commander until full restoration is confirmed and post-incident review is complete.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57200" y="182880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00000">
              <a:alpha val="45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188366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85%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457200" y="24140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Public Safety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633472" y="182880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00000">
              <a:alpha val="45000"/>
            </a:srgbClr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633472" y="188366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4A26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633472" y="24140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Restored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809744" y="182880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00000">
              <a:alpha val="45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809744" y="188366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2EC4B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ACTIVE</a:t>
            </a:r>
            <a:endParaRPr lang="en-US" sz="3000" dirty="0"/>
          </a:p>
        </p:txBody>
      </p:sp>
      <p:sp>
        <p:nvSpPr>
          <p:cNvPr id="15" name="Text 12"/>
          <p:cNvSpPr/>
          <p:nvPr/>
        </p:nvSpPr>
        <p:spPr>
          <a:xfrm>
            <a:off x="4809744" y="24140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986016" y="1828800"/>
            <a:ext cx="1993392" cy="1051560"/>
          </a:xfrm>
          <a:prstGeom prst="roundRect">
            <a:avLst>
              <a:gd name="adj" fmla="val 6957"/>
            </a:avLst>
          </a:prstGeom>
          <a:solidFill>
            <a:srgbClr val="000000">
              <a:alpha val="45000"/>
            </a:srgbClr>
          </a:solidFill>
          <a:ln w="19050">
            <a:solidFill>
              <a:srgbClr val="4A90D9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86016" y="1883664"/>
            <a:ext cx="199339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90D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08:00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986016" y="2414016"/>
            <a:ext cx="199339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Restoration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Est. AM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457200" y="3035808"/>
            <a:ext cx="8229600" cy="475488"/>
          </a:xfrm>
          <a:prstGeom prst="roundRect">
            <a:avLst>
              <a:gd name="adj" fmla="val 11538"/>
            </a:avLst>
          </a:prstGeom>
          <a:solidFill>
            <a:srgbClr val="000000">
              <a:alpha val="4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0080" y="3035808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Command Update: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06:00 AM — CIO Taylor briefing  |  </a:t>
            </a:r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Post-Incident Report:  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June 15, 2027 — Mayor Brayboy and CIO Taylor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367588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R. Lowery  |  Incident Commander  |  Deputy Chief Networking Officer  |  City of Harborview OIT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20040" y="4864608"/>
            <a:ext cx="5029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Use Only  |  RESTRICTED — Crisis Command Documentation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5349240" y="4864608"/>
            <a:ext cx="22860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 2027  |  June 14, 2027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8503920" y="4864608"/>
            <a:ext cx="45720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6400800" y="4864608"/>
            <a:ext cx="201168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FA3B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1234 Harbor Boulevard, Harborview, PA  •  harborview.gov/oit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Harborview OIT — Crisis Response Report — Q2 2027</dc:title>
  <dc:subject>PptxGenJS Presentation</dc:subject>
  <dc:creator>R. Lowery</dc:creator>
  <cp:lastModifiedBy>R. Lowery</cp:lastModifiedBy>
  <cp:revision>1</cp:revision>
  <dcterms:created xsi:type="dcterms:W3CDTF">2026-06-11T17:54:32Z</dcterms:created>
  <dcterms:modified xsi:type="dcterms:W3CDTF">2026-06-11T17:54:32Z</dcterms:modified>
</cp:coreProperties>
</file>